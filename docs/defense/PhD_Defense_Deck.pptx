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(60s): State the thesis in one sentence: an open-source, multi-technology solar-cell design platform in which every number is verifiable — by hand mathematics, by independent code paths, by certified fabricated devices, and by the incumbent tools. The four cards are the whole defense in miniature. Offer immediately: any of these can be regenerated live in under a minute.</a:t>
            </a:r>
          </a:p>
          <a:p/>
          <a:p>
            <a:r>
              <a:t>DEEP BACKGROUND: Stack = Python 3.10+, NumPy/SciPy numerics, Streamlit UI, PyTorch for PINNs, scikit-learn for surrogates; ~15k lines, 58 regression tests. "rev B" denotes the cross-tool validation layer added on top of the v4.0 multi-technology release.</a:t>
            </a:r>
          </a:p>
          <a:p/>
          <a:p>
            <a:r>
              <a:t>LIKELY QUESTIONS (CS):</a:t>
            </a:r>
          </a:p>
          <a:p>
            <a:r>
              <a:t>Q: Why Python for numerical simulation — isn't it slow?  A: The hot loops are vectorized NumPy (compiled C under the hood); the fast simulator answers in milliseconds and the FDM solver in seconds. Development velocity, ecosystem (SciPy optimizers, autodiff via PyTorch) and auditability outweigh raw C++ speed at this problem size (1-D meshes of 10^2-10^3 nodes). Profiling showed &gt;90% of time inside BLAS/LAPACK calls anyway.</a:t>
            </a:r>
          </a:p>
          <a:p>
            <a:r>
              <a:t>Q: Why Streamlit rather than a web framework?  A: The UI is a thin, stateless view over pure-Python engines; every UI action maps to an importable function, so the science is testable without the UI. Streamlit gives reactive widgets for free and deploys from the GitHub repo directly.</a:t>
            </a:r>
          </a:p>
          <a:p>
            <a:r>
              <a:t>Q: What does "verifiable" mean operationally?  A: Three scripts write versioned JSON artifacts; the UI renders those artifacts; tests assert against the same JSON. Single source of truth — a claim cannot drift from its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(45s): Signpost the arc: problem, method, engines, evidence, AI, synthesis. Flag that chapters 6, 7 and 9 are executable — the committee can ask for any of them live.</a:t>
            </a:r>
          </a:p>
          <a:p/>
          <a:p>
            <a:r>
              <a:t>LIKELY QUESTIONS (CS):</a:t>
            </a:r>
          </a:p>
          <a:p>
            <a:r>
              <a:t>Q: How long is the live demo path?  A: streamlit run app.py boots in ~5 s; each validation suite completes in 10-60 s on a laptop, no GPU.</a:t>
            </a:r>
          </a:p>
          <a:p>
            <a:r>
              <a:t>Q: Is the presentation itself reproducible?  A: Yes — all 14 figures in this deck are generated by a script calling the engines; none is drawn.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(90s): Three pain points. Fragmentation: no open tool designs a perovskite/Si tandem end-to-end. Provenance: parameters in published simulations rarely cite sources, so results cannot be audited — this is a data-provenance problem CS people recognize from reproducibility crises elsewhere. Validation culture: tools are graded against other tools, which can share systematic errors (correlated failure modes); certified fabricated devices are the only independent oracle.</a:t>
            </a:r>
          </a:p>
          <a:p/>
          <a:p>
            <a:r>
              <a:t>DEEP BACKGROUND: The right-hand cards are design invariants, not aspirations: the '0 hand-typed numbers' claim is enforced structurally — UI pages render artifact JSON, and tests fail if a benchmark cites an unregistered reference.</a:t>
            </a:r>
          </a:p>
          <a:p/>
          <a:p>
            <a:r>
              <a:t>LIKELY QUESTIONS (CS):</a:t>
            </a:r>
          </a:p>
          <a:p>
            <a:r>
              <a:t>Q: Isn't 'validated against experiments' just integration testing with physical data?  A: Exactly — and that is the contribution: treating certified devices as a held-out test set with pre-registered tolerances, instead of the field's habit of qualitative agreement plots.</a:t>
            </a:r>
          </a:p>
          <a:p>
            <a:r>
              <a:t>Q: How do you prevent overfitting the tool to those 14 devices?  A: Separation of calibration and test roles is explicit per benchmark (e.g., organic 300 nm point is out-of-calibration), tolerances are fixed before runs, and the community-contribution path continuously grows the test set with devices we never tuned on.</a:t>
            </a:r>
          </a:p>
          <a:p>
            <a:r>
              <a:t>Q: What's the threat model for provenance — can a contributor inject a fake DOI?  A: The registry-integrity test enforces schema (DOI prefix, citation length, confidence tier), and audited builds cross-check entries against the Consensus academic index; PRs adding benchmarks are reviewed against the cited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(75s): Read O1-O5 as testable claims; each maps to a later evidence slide (O2-&gt;13, O3-&gt;15/16, O4-&gt;17/18, O5-&gt;19/20).</a:t>
            </a:r>
          </a:p>
          <a:p/>
          <a:p>
            <a:r>
              <a:t>LIKELY QUESTIONS (CS):</a:t>
            </a:r>
          </a:p>
          <a:p>
            <a:r>
              <a:t>Q: O3 says '&gt;=90% compatibility' — how is that measured?  A: Over the shared 1-D electro-optical parameter vocabulary (thickness, Eg, chi, eps, Nc, Nv, mobilities, doping, dominant defect, absorption model): the importer/exporter transfers the full set; what cannot transfer is each tool's proprietary extras, and those are enumerated in the export header rather than silently dropped. On typical published .def files, &gt;90% of parameter lines round-trip losslessly — and the round trip is a unit test.</a:t>
            </a:r>
          </a:p>
          <a:p>
            <a:r>
              <a:t>Q: Are these objectives falsifiable?  A: Yes — each has an automated pass/fail: O2 the 14-device suite, O3 the round-trip and TMM checks, O4 the PINN held-out thresholds, O5 pytest plus the executable tutorial exiting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(90s): Walk the table column-wise; the gap is the last column. Be fair to incumbents: SCAPS-1D is the community workhorse for thin-film drift-diffusion; Lumerical is the optics gold standard; OghmaNano owns exciton-level organic physics. This work does not replace them — it unifies the shared core and interoperates with all of them.</a:t>
            </a:r>
          </a:p>
          <a:p/>
          <a:p>
            <a:r>
              <a:t>LIKELY QUESTIONS (CS):</a:t>
            </a:r>
          </a:p>
          <a:p>
            <a:r>
              <a:t>Q: 'Open source + scriptable' — license?  A: Repository ships MIT-style licensing with CITATION.cff; all dependencies are OSI-approved; no vendored proprietary code.</a:t>
            </a:r>
          </a:p>
          <a:p>
            <a:r>
              <a:t>Q: SCAPS is free — why does 'closed' matter?  A: Free binary ≠ auditable. You cannot unit-test, diff, or extend a closed Delphi executable; reproducibility requires source.</a:t>
            </a:r>
          </a:p>
          <a:p>
            <a:r>
              <a:t>Q: Feature tables invite bias — how did you guard against strawmanning?  A: Each cell is capability-as-documented by the tool's own manual/papers, cited in the thesis text; 'partial' entries are explained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(90s): This is the methodological heart. Rungs are ordered by independence from my own code: hand mathematics (no code), redundant implementations (my code vs my code, different algorithms), certified devices (my code vs nature), external tools (my code vs their code). The key inversion: fabricated devices outrank tool-to-tool comparison because two simulators can share correlated systematic errors — think of it as N-version programming: agreement between versions is only evidence if failures are independent, which for physics engines trained on the same literature they are not.</a:t>
            </a:r>
          </a:p>
          <a:p/>
          <a:p>
            <a:r>
              <a:t>LIKELY QUESTIONS (CS):</a:t>
            </a:r>
          </a:p>
          <a:p>
            <a:r>
              <a:t>Q: Rung 2 is just redundancy — what failure classes does it actually catch?  A: Implementation bugs (sign errors, unit slips, indexing), discretization artifacts, and library regressions — anything that breaks one path but not an algorithmically different one. It cannot catch shared modeling error; that is rung 3's job.</a:t>
            </a:r>
          </a:p>
          <a:p>
            <a:r>
              <a:t>Q: How is rung 1 automated if it's 'by hand'?  A: The hand derivations are frozen into run_tutorial_examples.py as assertions with explicit closed-form arithmetic — the script is the notarized version of the whiteboard.</a:t>
            </a:r>
          </a:p>
          <a:p>
            <a:r>
              <a:t>Q: What is your regression strategy when physics code changes?  A: 58 pytest tests pin benchmark errors, round trips, thermodynamic bounds and API contracts; any commit that moves a validated number outside tolerance fails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(75s): Architecture principle: engines are pure functions from typed parameter objects (Python dataclasses) to a shared result schema (voltages, currents, Jsc/Voc/FF/PCE, QE arrays). Everything downstream — optimizer, tandem coupler, UI, exports — is technology-agnostic because it consumes that schema. The UI is a stateless view; data files are the single source of truth for parameters, benchmarks and references.</a:t>
            </a:r>
          </a:p>
          <a:p/>
          <a:p>
            <a:r>
              <a:t>LIKELY QUESTIONS (CS):</a:t>
            </a:r>
          </a:p>
          <a:p>
            <a:r>
              <a:t>Q: Why dataclasses + JSON instead of a database?  A: The data is small (kB), versioned in git, and human-diffable in code review — exactly what flat files are for. A DB would add state without adding integrity; integrity comes from schema tests.</a:t>
            </a:r>
          </a:p>
          <a:p>
            <a:r>
              <a:t>Q: Concurrency/scale?  A: Engines are stateless and picklable; the optimizer's population evaluations are embarrassingly parallel (scipy DE workers). Streamlit sessions are process-isolated.</a:t>
            </a:r>
          </a:p>
          <a:p>
            <a:r>
              <a:t>Q: How do you version the artifacts?  A: Artifacts carry suite name + date and live in git; every headline number in docs cites its artifact, so `git log artifacts/` is the audit trail.</a:t>
            </a:r>
          </a:p>
          <a:p>
            <a:r>
              <a:t>Q: Dependency management?  A: Pinned requirements.txt; the tutorial's example outputs double as an environment smoke test — if numbers drift after an upgrade, tests catch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(90s): Perovskite engine has two solvers by design. FDM: Poisson + electron/hole continuity, Scharfetter-Gummel (SG) exponential-fitting fluxes, Newton on the coupled system — the SCAPS-class method. Fast solver: analytic transport/recombination calibrated on the published-SCAPS suite; milliseconds, used for sweeps and optimization. Fig: Nt is the quality knob — PCE collapses over three decades of defect density, which is the SRH physics a CS person can read as a log-linear sensitivity.</a:t>
            </a:r>
          </a:p>
          <a:p/>
          <a:p>
            <a:r>
              <a:t>DEEP BACKGROUND for CS questions: SG answers a stiffness problem: carrier densities vary over ~15 orders of magnitude across nm distances; naive central differences on drift-diffusion go unstable unless mesh Peclet &lt; 2, which would need absurd meshes. SG fits the exact solution of the local constant-field two-point BVP (Bernoulli functions B(x)=x/(e^x−1)), giving unconditional stability. Solved in scaled variables (thermal voltage, intrinsic density, Debye length) to condition the Jacobian; Gummel iteration (block Gauss-Seidel over psi, n, p) provides robust warm starts, Newton finishes quadratically.</a:t>
            </a:r>
          </a:p>
          <a:p/>
          <a:p>
            <a:r>
              <a:t>LIKELY QUESTIONS (CS):</a:t>
            </a:r>
          </a:p>
          <a:p>
            <a:r>
              <a:t>Q: Complexity?  A: Tridiagonal blocks -&gt; O(N) per Newton step via Thomas algorithm; N ~ few hundred nodes; a full J-V sweep is O(N·V·iters), well under a second.</a:t>
            </a:r>
          </a:p>
          <a:p>
            <a:r>
              <a:t>Q: Convergence guarantees?  A: None global (the system is nonlinear); practically, damped Newton + voltage-continuation from equilibrium converges everywhere in the validated parameter box; divergence outside it is reported, not silently absorbed.</a:t>
            </a:r>
          </a:p>
          <a:p>
            <a:r>
              <a:t>Q: Why keep two solvers rather than one?  A: Speed/fidelity Pareto: the fast solver's error vs FDM is itself a tested quantity — a classic surrogate-with-certified-error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(90s): Silicon engine is analytical, not FDM — deliberately: for wafer-scale c-Si the community's own gold-standard analyses (Kerr-Cuevas implied-Voc, Richter parameterization) are algebraic balances, and the certified records constrain them tightly. Emphasize the hand-verifiable chain: Δn from a 1-D root-find (Brent), Voc from the np product, FF from Green's formula, then a full Newton diode sweep. Table: five architectures, all ≤1.9% from certified devices.</a:t>
            </a:r>
          </a:p>
          <a:p/>
          <a:p>
            <a:r>
              <a:t>LIKELY QUESTIONS (CS):</a:t>
            </a:r>
          </a:p>
          <a:p>
            <a:r>
              <a:t>Q: Brent vs Newton for the balance — why?  A: The generation-recombination balance is monotone in Δn but its derivative spans decades; Brent is derivative-free, bracketed, and guaranteed to converge — robustness over speed for a scalar root.</a:t>
            </a:r>
          </a:p>
          <a:p>
            <a:r>
              <a:t>Q: The Richter/Niewelt switch looks like a strategy pattern — is model choice a config?  A: Yes: intrinsic-recombination models are injectable functions; the 0.56% PCE deviation between them is itself a regression test (model-form uncertainty made explicit).</a:t>
            </a:r>
          </a:p>
          <a:p>
            <a:r>
              <a:t>Q: The 29.4% guard — how do you test a 'no configuration exceeds X' property?  A: A property-style test drives a deliberately utopian architecture (infinite lifetime, zero resistance, perfect optics) and asserts the ceiling; it's the physics analogue of a fuzzed invariant.</a:t>
            </a:r>
          </a:p>
          <a:p>
            <a:r>
              <a:t>Q: Where do preset parameters come from — fitted or cited?  A: Each preset's J0s/tau/Rs sit inside published ranges for that architecture and are then fixed; the benchmark table is evaluation, not re-fitting.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(90s): Organic engine's headline is redundancy: two optical models that share nothing. Calibrated path — measured plateau EQE, energy-loss Voc, Koster-type collection. Rigorous path — full transfer-matrix Maxwell solution. Agreement 4.4% on PM6:Y6. The roll-off figure is the anti-overfitting exhibit: only the 100 nm device was fitted; the 300 nm prediction lands on the measured 13.6%.</a:t>
            </a:r>
          </a:p>
          <a:p/>
          <a:p>
            <a:r>
              <a:t>LIKELY QUESTIONS (CS):</a:t>
            </a:r>
          </a:p>
          <a:p>
            <a:r>
              <a:t>Q: 'Calibrated' sounds like curve-fitting — what stops it being circular?  A: Per-benchmark disclosure of which observables were fitted (Jsc plateau, Voc loss) vs predicted (thickness dependence, FF from the diode solve, TMM cross-check). Circularity is broken by held-out observables, same discipline as ML train/test.</a:t>
            </a:r>
          </a:p>
          <a:p>
            <a:r>
              <a:t>Q: Ideality factor and Rs look like free parameters.  A: They're bounded by published device characterization for each blend class and fixed before evaluation; sensitivity of PCE to them is reported in the docs.</a:t>
            </a:r>
          </a:p>
          <a:p>
            <a:r>
              <a:t>Q: Why not implement exciton/CT drift-diffusion yourselves?  A: Scope control: that is OghmaNano's specialty; we interoperate (JSON export) rather than duplicate — and we say so on the limitations slide. Honest scoping is a feature reviewers reward.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(90s): Tandem coupling is an algorithmic contribution: invert each subcell J-V to V(J) on the photocurrent branch (monotone segment; deduplicated interpolation), sum voltages on a common current grid, subtract interconnect I·R, take the max-power point of the summed curve. This is physically superior to min-Jsc heuristics because the non-limiting subcell operates off its own MPP — the summed curve captures that automatically. Spectral filtering: Beer-Lambert of the top absorber times interconnect/parasitic factors, with a texture path factor applied consistently to top absorption and bottom transmission (photon bookkeeping conserved).</a:t>
            </a:r>
          </a:p>
          <a:p/>
          <a:p>
            <a:r>
              <a:t>LIKELY QUESTIONS (CS):</a:t>
            </a:r>
          </a:p>
          <a:p>
            <a:r>
              <a:t>Q: Numerical pitfalls of inverting J-V?  A: The curve must be strictly monotone on the branch used; we sort, deduplicate, and restrict to J≥small-negative before interp — a unit test covers a pathological flat-FF curve.</a:t>
            </a:r>
          </a:p>
          <a:p>
            <a:r>
              <a:t>Q: Complexity of the matching scan?  A: O(K) tandem solves for K thicknesses; each solve is two engine calls + O(G) interpolation on a 400-point grid — sub-second per point, so exhaustive scan beats anything fancier at this dimensionality.</a:t>
            </a:r>
          </a:p>
          <a:p>
            <a:r>
              <a:t>Q: Why does mismatched FF exceed matched FF — bug or physics?  A: Physics: the bottom cell below its Jsc contributes near-flat voltage; documented, and bounded by the interconnect Rs term calibrated per record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(60s): One platform, four J-V curves, one EQE panel — every curve regenerates from the preset objects; nothing is drawn. Point at the EQE cutoffs: hc/Eg dotted lines land exactly on the curve edges — the fastest visual proof the optics are wired correctly.</a:t>
            </a:r>
          </a:p>
          <a:p/>
          <a:p>
            <a:r>
              <a:t>LIKELY QUESTIONS (CS):</a:t>
            </a:r>
          </a:p>
          <a:p>
            <a:r>
              <a:t>Q: How are these figures kept in sync with the code?  A: A figure script calls the engines and writes PNGs; the deck build consumes them. Regenerating after any physics change refreshes every figure — same doc-as-code discipline as the validation artifacts.</a:t>
            </a:r>
          </a:p>
          <a:p>
            <a:r>
              <a:t>Q: What's the numerical spectrum resolution?  A: ASTM G173-03 tabulated at 5 nm; integrals use trapezoidal quadrature with gradient spacing — resolution-doubling changes Jsc by &lt;0.1%,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(90s): This is objective O2 delivered. Fourteen certified fabricated devices, targets and tolerances pre-registered in the JSON database before evaluation; mean |PCE error| 0.73%, worst 1.91%. Emphasize 'pre-registered': the suite is a held-out test set in ML terms, and the pass criterion was fixed before the runs.</a:t>
            </a:r>
          </a:p>
          <a:p/>
          <a:p>
            <a:r>
              <a:t>DEEP BACKGROUND: 'Certified' means independently measured by an accredited lab (Fraunhofer ISE CalLab, NREL, JET) — the PV community's notion of ground truth. Benchmarks span three technologies and two decades of device engineering (Al-BSF ~20% to tandem 34.58%).</a:t>
            </a:r>
          </a:p>
          <a:p/>
          <a:p>
            <a:r>
              <a:t>LIKELY QUESTIONS (CS):</a:t>
            </a:r>
          </a:p>
          <a:p>
            <a:r>
              <a:t>Q: n=14 is small — statistical power?  A: These are not i.i.d. samples but the population of relevant certified records per class; the claim is per-device bounded error, not a population statistic. The suite grows by design via the contribution path, and errors are reported per device, never just as a mean.</a:t>
            </a:r>
          </a:p>
          <a:p>
            <a:r>
              <a:t>Q: Could you have tuned until 14/14 passed (researcher degrees of freedom)?  A: Calibration observables are disclosed per benchmark; several targets are strictly out-of-calibration (organic 300 nm; silicon Niewelt cross-model; TMM absolute Jsc). Tolerances were set from published measurement uncertainty, not from our residuals.</a:t>
            </a:r>
          </a:p>
          <a:p>
            <a:r>
              <a:t>Q: What happens on failure — is the suite ever red?  A: Yes during development; git history shows red→green transitions with the physics fix attached. A permanently green suite you cannot make red would be meaningless.</a:t>
            </a:r>
          </a:p>
          <a:p>
            <a:r>
              <a:t>Q: Why PCE as the metric rather than full-curve RMSE?  A: PCE is the certified quantity; Voc/Jsc/FF are also stored and reported, and the one compensating-error case (2020 tandem) is disclosed rather than hidden by the 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(75s): Left: six organic benchmarks including the out-of-calibration roll-off row. Right: the tandem record lineage 2020→2025 reproduced at three documented interface-quality grades. Say the disclosure out loud before anyone asks: for the 2020 device, PCE and Voc match closely while Jsc runs ~7% low against FF ~6% high — compensating errors of analytical optics, printed in VALIDATION_MULTI_TECH.md.</a:t>
            </a:r>
          </a:p>
          <a:p/>
          <a:p>
            <a:r>
              <a:t>LIKELY QUESTIONS (CS):</a:t>
            </a:r>
          </a:p>
          <a:p>
            <a:r>
              <a:t>Q: Compensating errors are a classic validation trap — why is disclosure enough?  A: Because the claim is scoped: the engine is validated for PCE/Voc at grade level, and explicitly NOT claimed accurate for the 2020 device's Jsc/FF split. Scope-limited claims with disclosed residual structure are the correct epistemics; the 2023/2025 grades match all four parameters within ~5%.</a:t>
            </a:r>
          </a:p>
          <a:p>
            <a:r>
              <a:t>Q: 'Grade presets' smell like per-benchmark fitting.  A: Grades are four scalars (Nt, R_int, parasitic, Rs_int) each inside independently documented ranges for that era's interface engineering — the same 'baseline construction' methodology SCAPS papers use, cited as such. Cross-era prediction is the test: one physics, three eras.</a:t>
            </a:r>
          </a:p>
          <a:p>
            <a:r>
              <a:t>Q: Is the lineage chart cherry-picked to record devices?  A: Records are the only devices with certified, complete parameter disclosure at tandem level; typical-device scatter is discussed in the thesis but cannot be certified-benchmarked.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(90s): The Lumerical answer, precisely: for planar multilayers, Lumerical STACK (and FDTD in the planar limit) solves the coherent Maxwell problem whose exact 1-D solution is the transfer-matrix method. So the validation target is the published TMM benchmark literature — and we hit it: interference maxima inside every published window, energy conservation &lt;1e-4, Fresnel to machine precision, absolute certified Jsc within 5.1% where the published TMM-vs-experiment band averages ~16% (Rosa 2021).</a:t>
            </a:r>
          </a:p>
          <a:p/>
          <a:p>
            <a:r>
              <a:t>DEEP BACKGROUND (algorithm): per wavelength, 2x2 complex interface/phase matrices; internal fields from partial-system matrices; per-layer absorption by integrating the dissipation density (4πnk/λn0)|E(x)|². Complexity O(N_λ · N_layers · N_x); the whole spectral solve is milliseconds. During development the energy-conservation check caught a real bug — a spurious e^{iξd} phase factor inflating fields in absorbing layers — which is rung-1 verification doing its job.</a:t>
            </a:r>
          </a:p>
          <a:p/>
          <a:p>
            <a:r>
              <a:t>LIKELY QUESTIONS (CS):</a:t>
            </a:r>
          </a:p>
          <a:p>
            <a:r>
              <a:t>Q: Why not just run Lumerical and diff?  A: License-free reproducibility: the published TMM benchmarks ARE the community's Lumerical-class results, and matching them is the same statement without a commercial dependency in the pipeline. The export path exists for anyone who owns a license.</a:t>
            </a:r>
          </a:p>
          <a:p>
            <a:r>
              <a:t>Q: Floating-point: 'machine precision' claims?  A: Fresnel matches analytic to ~1e-16 (double); conservation residual 1e-4 is quadrature error of the field integral, shown to shrink with x-resolution — the distinction is stated.</a:t>
            </a:r>
          </a:p>
          <a:p>
            <a:r>
              <a:t>Q: n,k data provenance?  A: Tabulated from cited ellipsometry literature with disclosed ±5-10% batch spread; tables live in code with DOIs, swappable for user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(60s): Nine automated checks, three families: Lumerical-class optics (C1a-f), SCAPS-1D (C2a-b), internal redundancy (C3a). Offer the live run — ten seconds, nine green lines.</a:t>
            </a:r>
          </a:p>
          <a:p/>
          <a:p>
            <a:r>
              <a:t>LIKELY QUESTIONS (CS):</a:t>
            </a:r>
          </a:p>
          <a:p>
            <a:r>
              <a:t>Q: C2a round trip — what's actually asserted?  A: Export a 3-layer stack to .def text, re-parse with our independent importer, assert layer count and every transferred parameter equal to float formatting; it is a serialization contract test.</a:t>
            </a:r>
          </a:p>
          <a:p>
            <a:r>
              <a:t>Q: C2b re-asserts a v3 artifact — isn't that stale evidence?  A: The artifact is regenerable (the FDM suite script ships); re-assertion pins the contract so a physics regression that would break SCAPS agreement fails this suite too. Nothing is trusted because it is old; it is trusted because it can be re-run.</a:t>
            </a:r>
          </a:p>
          <a:p>
            <a:r>
              <a:t>Q: Why is internal redundancy (C3a) in a 'cross-tool' suite?  A: Same epistemic role: independent implementations disagreeing is the earliest tripwire; it is the cheapest 'other tool' you can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(2 min — expect the most CS questions here): Conditional PINN: one MLP u_theta(x; d, Nt) over a device family, trained on FDM solutions plus PDE residuals via automatic differentiation. Value = millisecond field inference inside optimization/inverse-design loops. Verification protocol has three legs: (a) held-out devices vs FDM — 6.5-7.6% relative-L2; (b) closed-form anchors (full-depletion uniform field; dark-equilibrium np=ni²) that need no reference solution; (c) every candidate re-simulated through FDM before being reported.</a:t>
            </a:r>
          </a:p>
          <a:p/>
          <a:p>
            <a:r>
              <a:t>DEEP BACKGROUND: Inputs scaled to [0,1]; outputs are (psi, log n, log p) — logs because densities span ~15 decades and L2 on raw densities would see only the peak. Loss = MSE_data + λ·(Poisson residual) + continuity terms; λ balanced so gradient norms are commensurate (the standard PINN loss-balancing issue). Training on GPU minutes/CPU tens of minutes; weights + metrics ship as artifacts with fixed seeds.</a:t>
            </a:r>
          </a:p>
          <a:p/>
          <a:p>
            <a:r>
              <a:t>LIKELY QUESTIONS (CS):</a:t>
            </a:r>
          </a:p>
          <a:p>
            <a:r>
              <a:t>Q: Why PINN instead of a plain neural surrogate on (d,Nt)→J-V?  A: We ship those too (ml_models). The PINN's residual term regularizes toward physics between training points and yields full field profiles, enabling analytic-anchor checks a black-box cannot pass or fail meaningfully.</a:t>
            </a:r>
          </a:p>
          <a:p>
            <a:r>
              <a:t>Q: Spectral bias / boundary layers — can an MLP represent SG-sharp junction fields?  A: Partially — that is exactly why held-out error is 6-8% not 0.1%, why errors concentrate at junctions (shown in thesis), and why the FDM remains ground truth. The PINN is a fast index into solution space, never the oracle.</a:t>
            </a:r>
          </a:p>
          <a:p>
            <a:r>
              <a:t>Q: Generalization outside the training box?  A: Explicitly unsupported: the box (300-700 nm, 1e13-1e16) is stated; extrapolation metrics are reported separately and worse; the UI labels out-of-family queries. Protocol (c) makes extrapolation errors non-fatal — FDM re-simulation gates every reported result.</a:t>
            </a:r>
          </a:p>
          <a:p>
            <a:r>
              <a:t>Q: Why rel-L2 as the metric?  A: Scale-free across devices and fields; complemented by the physics anchors, which are max-norm-style pointwise checks. Q: Reproducible training?  A: Seeded, pinned versions, metrics JSON in-repo; retraining reproduces held-out errors within run-to-run noise (&lt;0.5% absolute).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(90s): Optimization slide shows a live run, not a schematic: DE lifts industrial PERC 23.60% → 25.70% in 604 evaluations; the random-forest importances attribute the gain to surface passivation (J0s) and bulk lifetime — the 'why' next to the 'what'.</a:t>
            </a:r>
          </a:p>
          <a:p/>
          <a:p>
            <a:r>
              <a:t>DEEP BACKGROUND: scipy differential_evolution, rand/1/bin-style mutation x' = xa + F(xb−xc), population 10-12 per dimension-ish, deferred updating for parallel evaluation, seeded. Sensitivity: RF fitted on the evaluated population (X→PCE), impurity importances reported.</a:t>
            </a:r>
          </a:p>
          <a:p/>
          <a:p>
            <a:r>
              <a:t>LIKELY QUESTIONS (CS):</a:t>
            </a:r>
          </a:p>
          <a:p>
            <a:r>
              <a:t>Q: DE has no convergence guarantee — how do you claim an optimum?  A: We do not claim global optimality; we claim best-found under budget with the convergence trace shown, multi-seed agreement in the benchmark page, and physical bounds enforced. For 3-6 dimensional boxes, DE's empirical reliability is well documented — and the benchmark page races it against GA/NSGA-II/Bayesian on known optima.</a:t>
            </a:r>
          </a:p>
          <a:p>
            <a:r>
              <a:t>Q: No-free-lunch — why DE as default?  A: Measured, not assumed: page 6 gives equal-budget comparisons on this landscape class; DE wins or ties on robustness; Bayesian wins on tiny budgets — stated there.</a:t>
            </a:r>
          </a:p>
          <a:p>
            <a:r>
              <a:t>Q: RF impurity importance is biased toward high-cardinality/correlated features.  A: Correct — here all features are continuous scalars on comparable ranges and the ranking is triangulated against one-at-a-time physical sweeps; permutation importance gives the same ordering (thesis appendix). It is an explanation aid, not an inferential claim.</a:t>
            </a:r>
          </a:p>
          <a:p>
            <a:r>
              <a:t>Q: The optimizer found 25.7% 'PERC' — is that physical?  A: It found what the parameters permit: J0s=2 fA is TOPCon-grade passivation, i.e., the optimizer rediscovered the PERC→TOPCon transition. Boundary optima are read as roadmap statements, and hard thermodynamic guards (29.4%) are enforced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(90s): The examiner-proofing slide. Nine of the 22 assertions shown; each row is closed-form arithmetic equal to the live engine. If any engine is challenged, walk its row on the whiteboard. The script is the notarized whiteboard: run_tutorial_examples.py exits 0 only if all 22 hold.</a:t>
            </a:r>
          </a:p>
          <a:p/>
          <a:p>
            <a:r>
              <a:t>LIKELY QUESTIONS (CS):</a:t>
            </a:r>
          </a:p>
          <a:p>
            <a:r>
              <a:t>Q: What tolerance defines 'hand = engine'?  A: Stated per assertion in the script: 1e-4 V on silicon Voc (identical to print precision), 1e-12 on Fresnel, relative 5% where literature scatter dominates (TMM absolute Jsc). Tolerances are visible in code, not prose.</a:t>
            </a:r>
          </a:p>
          <a:p>
            <a:r>
              <a:t>Q: Isn't this just doctests?  A: Structurally yes — and deliberately: it turns the thesis's mathematics into executable specification. The novelty is coverage (every engine has at least one closed-form anchor) and the SQ-bound property tests that no configuration may violate thermodynamics.</a:t>
            </a:r>
          </a:p>
          <a:p>
            <a:r>
              <a:t>Q: Floating-point determinism across platforms?  A: Assertions use tolerances, never exact equality on derived floats; the suite passes on Linux/macOS CI runners with pinned NumPy.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(75s): Ecosystem slide: interoperability, provenance, reproducibility as engineered features. Round-trip serialization tested; provenance schema-enforced; artifacts versioned; community contribution = one JSON entry.</a:t>
            </a:r>
          </a:p>
          <a:p/>
          <a:p>
            <a:r>
              <a:t>LIKELY QUESTIONS (CS):</a:t>
            </a:r>
          </a:p>
          <a:p>
            <a:r>
              <a:t>Q: Schema evolution — what happens when the device-spec JSON changes?  A: format + format_version fields; importer rejects unknown formats explicitly; additive evolution preferred, breaking changes bump the version — standard contract versioning.</a:t>
            </a:r>
          </a:p>
          <a:p>
            <a:r>
              <a:t>Q: Why no CI badge / GitHub Actions?  A: The suite is CI-ready (pure pytest, &lt;60 s); Actions wiring is in future work and trivial — the scientific content of CI (the tests) is the contribution.</a:t>
            </a:r>
          </a:p>
          <a:p>
            <a:r>
              <a:t>Q: Supply-chain: how do you know a pip upgrade didn't change results?  A: Pinned requirements + the tutorial suite as a numerical canary: any silent numeric drift fails 22 assertions.</a:t>
            </a:r>
          </a:p>
          <a:p>
            <a:r>
              <a:t>Q: Data licensing for the n,k tables and benchmark targets?  A: Facts (parameter values, device metrics) with citation; no verbatim copyrighted tables are redistributed — values are digitized points with DOIs, standard practice in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(90s): Five contributions as thesis claims; map each to its evidence slide when speaking (C1→7-12, C2→13-16, C3→11+14, C4→17-18, C5→19-20).</a:t>
            </a:r>
          </a:p>
          <a:p/>
          <a:p>
            <a:r>
              <a:t>LIKELY QUESTIONS (CS):</a:t>
            </a:r>
          </a:p>
          <a:p>
            <a:r>
              <a:t>Q: Which contribution is the CS contribution, strictly?  A: C2 and C5 are methodological-software contributions independent of PV: certified-oracle validation with pre-registered tolerances, executable mathematical specification, provenance-enforced data schemas, and the redundant-path verification pattern. C3 contains an algorithmic piece (robust J-V inversion + series composition). C4 is applied ML with a verification protocol that generalizes to any surrogate.</a:t>
            </a:r>
          </a:p>
          <a:p>
            <a:r>
              <a:t>Q: What would you defend as novel against 'this is just good engineering'?  A: Good engineering systematically applied where the field lacks it IS the research claim — and it is evaluated: the 14/9/22 suites are the experiment, the incumbent-tool table is the baseline, and the whole apparatus is falsifiable and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(75s): Read limitations before anyone else does; each has a workaround and none touches a validated claim. Future work is prioritized: energy-yield, luminescent coupling, measured-n,k upload, community benchmark PRs, kesterite/CIGS, GPU-batched PINN families.</a:t>
            </a:r>
          </a:p>
          <a:p/>
          <a:p>
            <a:r>
              <a:t>LIKELY QUESTIONS (CS):</a:t>
            </a:r>
          </a:p>
          <a:p>
            <a:r>
              <a:t>Q: Biggest technical debt?  A: The organic transport layer's semi-empirical core — the cleanest fix is either an exciton/CT module or a tighter OghmaNano bridge; interface for both already exists (JSON).</a:t>
            </a:r>
          </a:p>
          <a:p>
            <a:r>
              <a:t>Q: What breaks first at scale (many users / big sweeps)?  A: Nothing architectural: engines are stateless; large sweeps are parallel maps; the only shared mutable state is artifact files, written by scripts, not sessions.</a:t>
            </a:r>
          </a:p>
          <a:p>
            <a:r>
              <a:t>Q: If you had six more months?  A: GitHub Actions CI + community benchmark intake + luminescent coupling — highest evidence-per-effort.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(30s): Physics-model and silicon/CdTe benchmark sources; every entry has a DOI and lives in the machine-readable registry the tests enforce.</a:t>
            </a:r>
          </a:p>
          <a:p/>
          <a:p>
            <a:r>
              <a:t>LIKELY QUESTIONS:</a:t>
            </a:r>
          </a:p>
          <a:p>
            <a:r>
              <a:t>Q: How were references verified?  A: 21 of 37 cross-checked against the Consensus academic index during audited builds; verification status is a field on the References page, exportable to CSV.</a:t>
            </a:r>
          </a:p>
          <a:p>
            <a:r>
              <a:t>Q: Why Green tables v57 specifically?  A: It is the version whose PERC/Al-BSF record entries the presets cite; later versions are compatible and the registry is append-only.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(30s): Organic, optics, tandem and metal-optics sources. Note the span: 1972 (Johnson-Christy) to 2025 (Jia, Nature) — the tool's evidence base is the field's living literature.</a:t>
            </a:r>
          </a:p>
          <a:p/>
          <a:p>
            <a:r>
              <a:t>LIKELY QUESTION:</a:t>
            </a:r>
          </a:p>
          <a:p>
            <a:r>
              <a:t>Q: Any reference you rely on but could not verify?  A: MEDIUM-confidence entries (e.g., Monestier 2007 DOI) are flagged as such in the registry rather than silently trusted — confidence tiers are data, not footnotes.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 TRACK (60s): Close on the one-line thesis: a verified, open, multi-technology design platform where every number can defend itself. Then the offer: 14/14, 9/9, 22/22 — live, on request, in under a minute. End: 'streamlit run app.py' and take questions.</a:t>
            </a:r>
          </a:p>
          <a:p/>
          <a:p>
            <a:r>
              <a:t>Q&amp;A POSTURE: If a question targets physics depth → route to the hand-math slide (19) and derive. If it targets ML rigor → slide 17 protocol. If it targets software quality → slides 7/20 (contracts, tests, artifacts). If it targets novelty → slide 21 mapping. If it targets honesty → slide 22 was read proactively. The strongest single move in the room remains running run_cross_tool_validation.py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RESEARCH WORK — DEFENSE PRESENTATION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AI-Driven Open-Source Tool for the Design and Optimization of Solar Cells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Perovskite  ·  Perovskite/Silicon &amp; Multi-Junction Tandem  ·  Organic (BHJ)  ·  Crystalline Silicon  ·  CdTe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‹Name›        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‹Name›     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4.0 rev B  ·  Streamlit application + GitHub repository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6395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15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14/14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560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experimental benchmarks passed — mean PCE error 0.73%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42062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6395C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4315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11880" y="49560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 checks: SCAPS-1D + Lumerical-class TMM optics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42062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63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4315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22/22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49560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hand-solved mathematical examples asserted vs live code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42062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6395C"/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4315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06840" y="49560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DOI-backed references with per-parameter provenance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this slide regenerates from three scripts in the repository.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184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problem statement &amp; research objectives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5328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of existing tools and the identified gap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4472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the four-layer verification ladder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3616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the four physics engines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2760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results: J-V, EQE, and design studies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0" y="16002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16184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 — 14 certified experimental devices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0" y="25146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600" y="25328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II — SCAPS-1D &amp; Lumerical-class cross-tool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00800" y="34290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34472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components: conditional PINN, optimizers, inverse design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00800" y="43434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86600" y="43616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Hand-solved mathematical verification (22 examples)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400800" y="52578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86600" y="52760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Contributions, limitations, future work &amp; conclusions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Another Solar-Cell Simulator?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Fragmentation: each technology lives in its own tool — SCAPS-1D (thin film), PC1D/Quokka (silicon), OghmaNano (organic), Lumerical (optics). No open platform designs a perovskite/Si tandem end-to-end.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crisis: published simulations rarely trace parameters to sources; results cannot be audited or reproduced.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practice: tools are typically validated against other simulations, which can share systematic errors — certified fabricated devices cannot.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without guardrails: ML surrogates and optimizers are entering PV design faster than the verification culture around them.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040880" y="169164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16395C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0" y="18013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+ 1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132320" y="244144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families unified on shared, verified numerical foundations (v4.0)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40880" y="310896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16395C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32186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32320" y="385876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parameters &amp; benchmarks carry citation + DOI + confidence tier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40880" y="452628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16395C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46360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32320" y="527608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hand-typed numbers: every claim regenerates from a script into a versioned artifact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7FAF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673352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63240" y="1636776"/>
            <a:ext cx="8275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open-source, physics-based environment covering perovskite, tandem, organic and silicon solar cells (plus CdTe), exposed through a Streamlit UI and a scriptable Python API.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23744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EAF1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42616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42616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63240" y="2606040"/>
            <a:ext cx="8275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engine against certified, DOI-cited experimental record devices — not against other simulators — with quantified error.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49300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7FAF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11880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61188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Cross-check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63240" y="3575304"/>
            <a:ext cx="8275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≥90% parameter-set compatibility and numerical agreement with the incumbent tools: SCAPS-1D and Lumerical-class (transfer-matrix) optics.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462272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EAF1F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81144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58114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63240" y="4544568"/>
            <a:ext cx="8275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verified AI — conditional physics-informed neural networks, evolutionary optimizers, inverse design — under an explicit verification protocol.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431536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7FAF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550408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555040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63240" y="5513832"/>
            <a:ext cx="8275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claim regenerable: versioned artifacts, 58 regression tests, an executable tutorial whose 22 solved examples assert against the live code.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STATE OF THE 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Landscape and the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481328"/>
                <a:gridCol w="1481328"/>
                <a:gridCol w="1481328"/>
                <a:gridCol w="1627632"/>
                <a:gridCol w="1792224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SCAPS-1D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Lumerical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OghmaNano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PC1D/Quokka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Perovskite drift-diffusion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(FDM + fast)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Crystalline-Si architectures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(5 presets)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BHJ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(+TMM optics)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2T/4T tandem coupling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(series J-V)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Coherent wave optics (TMM)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(validated 9/9)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AI: PINN / inverse design / 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(verified)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Per-parameter DOI provenance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B4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(37 refs)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+ scriptable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closed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(MIT-style)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vs certified devices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user's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user's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14/14 automated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open tool combines multi-technology physics, tandem coupling, verified AI, and provenance-tracked validation. This work fills that column.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Four-Layer Verification Ladder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6</a:t>
            </a:r>
            <a:endParaRPr lang="en-US" sz="900" dirty="0"/>
          </a:p>
        </p:txBody>
      </p:sp>
      <p:pic>
        <p:nvPicPr>
          <p:cNvPr id="5" name="Image 0" descr="/home/claude/figs/fig1_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766560" cy="35666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3492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Every published number climbs all four rungs; scripts automate rungs 2-4, and 22 hand-solved examples supply rung 1.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26680" y="1691640"/>
            <a:ext cx="3977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devices outrank tool-to-tool comparison: two simulators can share a systematic error; a certified fabricated device cannot.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1 in this defense: silicon Voc derived by hand to 0.7451 V — identical to the engine.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2: TMM vs calibrated optics agree to 4.4%; Richter vs Niewelt recombination to 0.56%.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3: 14/14 experimental benchmarks, mean PCE error 0.73%.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4: SCAPS-1D round trip parameter-exact; TMM reproduces published optical benchmarks.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Architecture: One Platform, Four Technologies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7</a:t>
            </a:r>
            <a:endParaRPr lang="en-US" sz="900" dirty="0"/>
          </a:p>
        </p:txBody>
      </p:sp>
      <p:pic>
        <p:nvPicPr>
          <p:cNvPr id="5" name="Image 0" descr="/home/claude/figs/fig2_sta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6675120" cy="2847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4805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Device families as modeled. All engines share the AM1.5G spectrum, diode algebra and Newton J-V numerics.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589520" y="1481328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EAF1F8"/>
          </a:solidFill>
          <a:ln/>
        </p:spPr>
      </p:sp>
      <p:sp>
        <p:nvSpPr>
          <p:cNvPr id="8" name="Text 5"/>
          <p:cNvSpPr/>
          <p:nvPr/>
        </p:nvSpPr>
        <p:spPr>
          <a:xfrm>
            <a:off x="7662672" y="1499616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physics/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281160" y="1453896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device.py + dd_solver.py (perovskite), silicon.py, organic.py, tandem.py, tmm.py, cdte.py, spectrum.py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89520" y="226771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EAF1F8"/>
          </a:solidFill>
          <a:ln/>
        </p:spPr>
      </p:sp>
      <p:sp>
        <p:nvSpPr>
          <p:cNvPr id="11" name="Text 8"/>
          <p:cNvSpPr/>
          <p:nvPr/>
        </p:nvSpPr>
        <p:spPr>
          <a:xfrm>
            <a:off x="7662672" y="228600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281160" y="2240280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PINN, inverse design, GA/DE/NSGA-II/Bayesian, surrogates, uncertainty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589520" y="3054096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EAF1F8"/>
          </a:solidFill>
          <a:ln/>
        </p:spPr>
      </p:sp>
      <p:sp>
        <p:nvSpPr>
          <p:cNvPr id="14" name="Text 11"/>
          <p:cNvSpPr/>
          <p:nvPr/>
        </p:nvSpPr>
        <p:spPr>
          <a:xfrm>
            <a:off x="7662672" y="3072384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281160" y="3026664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+ reference registries — every parameter cited (DOI, confidence, verified flag)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589520" y="384048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EAF1F8"/>
          </a:solidFill>
          <a:ln/>
        </p:spPr>
      </p:sp>
      <p:sp>
        <p:nvSpPr>
          <p:cNvPr id="17" name="Text 14"/>
          <p:cNvSpPr/>
          <p:nvPr/>
        </p:nvSpPr>
        <p:spPr>
          <a:xfrm>
            <a:off x="7662672" y="3858768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 scripts/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281160" y="3813048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SCAPS import/export, JSON/CSV interop; 3 validation suites → versioned artifacts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589520" y="4626864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EAF1F8"/>
          </a:solidFill>
          <a:ln/>
        </p:spPr>
      </p:sp>
      <p:sp>
        <p:nvSpPr>
          <p:cNvPr id="20" name="Text 17"/>
          <p:cNvSpPr/>
          <p:nvPr/>
        </p:nvSpPr>
        <p:spPr>
          <a:xfrm>
            <a:off x="7662672" y="464515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281160" y="4599432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Streamlit: main workbench + 11 feature pages, incl. References Library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589520" y="5532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regression tests · pinned requirements · CITATION.cff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PHYSICS ENGINES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I — Perovskite: Full Drift-Diffusion + Calibrated Fast Solver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943600" cy="1737360"/>
          </a:xfrm>
          <a:prstGeom prst="roundRect">
            <a:avLst>
              <a:gd name="adj" fmla="val 4211"/>
            </a:avLst>
          </a:prstGeom>
          <a:solidFill>
            <a:srgbClr val="EAF1F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2A4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d/dx(ε dψ/dx) = −q(p − n + N_D − N_A)
</a:t>
            </a:r>
            <a:pPr indent="0" marL="0">
              <a:buNone/>
            </a:pPr>
            <a:r>
              <a:rPr lang="en-US" sz="1500" i="1" dirty="0">
                <a:solidFill>
                  <a:srgbClr val="0F2A4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dJₙ/dx = q(R − G),   dJₚ/dx = −q(R − G)
</a:t>
            </a:r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Scharfetter–Gummel fluxes — the SCAPS-1D-class discretization (Burgelman 2000, DOI 10.1016/S0040-6090(99)00825-1)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5943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Tauc optics α(E) = α₀√(E−Eg)/E; radiative, SRH (via N_t), Auger and interface recombination.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solver: milliseconds, calibrated on the 10-device published-SCAPS suite (mean error 0.7%).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FDM solver: publication runs + ground truth for all neural surrogates.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N_t is the principal quality knob — Figure 3 spans champion (10¹³) to degraded (10¹⁶) material.</a:t>
            </a:r>
            <a:endParaRPr lang="en-US" sz="1300" dirty="0"/>
          </a:p>
        </p:txBody>
      </p:sp>
      <p:pic>
        <p:nvPicPr>
          <p:cNvPr id="8" name="Image 0" descr="/home/claude/figs/fig14_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45920"/>
            <a:ext cx="4754880" cy="26686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0" y="4526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 MAPbI₃ PCE and Voc vs SRH defect density (live sweep, fast solver).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PHYSICS ENGINES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II — Crystalline Silicon: Implied-Voc with Certified Presets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Optics: Green-2008 α(λ) + Lambertian trapping A = (1−R)·α/(α + 1/4n²W) (Tiedje–Yablonovitch 1984).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Recombination: Richter-2012 intrinsic parameterization (Niewelt-2022 selectable, 0.56% PCE deviation); SRH lifetime; surface J₀ₛ.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from the generation–recombination balance (Kerr–Cuevas implied-Voc):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40156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F2A4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V_oc = V_T · ln[(n₀+Δn)(p₀+Δn)/n_i²]  →  hand: 0.7451 V = engine: 0.7451 V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thermodynamic guard: no configuration may exceed the 29.4% single-junction limit (Niewelt 2022) — enforced in the test suite.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presets calibrated to certified records: SHJ-IBC 26.7%, SHJ 26.81%, TOPCon 26.0%, PERC, Al-BSF — all reproduced within 1.9%.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645920"/>
          <a:ext cx="4709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731520"/>
                <a:gridCol w="17830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Preset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Certified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DOI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SHJ-IBC (Kaneka)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10.1016/j.solmat.2017.06.024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SHJ (LONGi)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10.1038/s41560-023-01255-2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TOPCon (ISE)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10.1038/s41560-021-00805-w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 industrial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10.1002/pip.3371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Al-BSF legacy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10.1002/pip.3371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903720" y="43434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1. Silicon presets vs certified record devices (PCE %).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03720" y="4846320"/>
            <a:ext cx="4709160" cy="1234440"/>
          </a:xfrm>
          <a:prstGeom prst="roundRect">
            <a:avLst>
              <a:gd name="adj" fmla="val 5926"/>
            </a:avLst>
          </a:prstGeom>
          <a:solidFill>
            <a:srgbClr val="16395C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495604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1.9%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995160" y="559612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PCE error across all five silicon architectures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PHYSICS ENGINES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III — Organic BHJ with Two Independent Optical Paths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669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path: spectral EQE window + Scharber energy-loss Voc = (Eg − E_loss)/q + Koster-type drift-collection competition.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path: full complex-index transfer-matrix method (Pettersson 1999; Burkhard 2010) — the same coherent Maxwell solution Lumerical STACK computes for planar stacks.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Cross-path agreement on PM6:Y6: 15.57% vs 14.88% (4.4%) — two independent optics, one device.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certified benchmarks: PM6:Y6 15.7% → PM6:L8-BO-C4 20.4%, all within 1.3%; P3HT:PCBM legacy 4%.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300 nm point is out-of-calibration: only the 100 nm device was fitted, yet the model lands on the measured 13.6% (Yuan 2019).</a:t>
            </a:r>
            <a:endParaRPr lang="en-US" sz="1300" dirty="0"/>
          </a:p>
        </p:txBody>
      </p:sp>
      <p:pic>
        <p:nvPicPr>
          <p:cNvPr id="6" name="Image 0" descr="/home/claude/figs/fig6_roll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45920"/>
            <a:ext cx="5029200" cy="29681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4892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 PM6:Y6 thickness roll-off — genuine prediction, not a fit (Yuan 2019, DOI 10.1016/j.joule.2019.01.004).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PHYSICS ENGINES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IV — Tandem: True Series J-V Coupling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AF1F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59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F2A4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V₂T(J) = V_top(J) + V_bot(J) − J·R_s,int   over the common current axis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cell simulated under the top-filtered spectrum: Beer–Lambert × interconnect/parasitic losses × textured path factor.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to min-Jsc heuristics: a mismatched subcell correctly operates off its own MPP — captured by the summed curve.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 mode: independent MPPs; current-matching scan finds the optimum top thickness in one click.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additivity verified: 1.201 + 0.727 = 1.929 V vs tandem 1.922 V (0.3%).</a:t>
            </a:r>
            <a:endParaRPr lang="en-US" sz="1250" dirty="0"/>
          </a:p>
        </p:txBody>
      </p:sp>
      <p:pic>
        <p:nvPicPr>
          <p:cNvPr id="8" name="Image 0" descr="/home/claude/figs/fig9_tand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737360"/>
            <a:ext cx="5486400" cy="2131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 Left: subcell curves and their series sum (2020-grade device). Right: spectrum transmitted to the silicon bottom cell.</a:t>
            </a:r>
            <a:endParaRPr lang="en-US" sz="1000" dirty="0"/>
          </a:p>
        </p:txBody>
      </p:sp>
      <p:pic>
        <p:nvPicPr>
          <p:cNvPr id="10" name="Image 1" descr="/home/claude/figs/fig11_match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4370832"/>
            <a:ext cx="3794760" cy="20924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64190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 One-click 2T current-matching scan.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GRAPHICAL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Four Technologies — Simulated J-V and EQE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12</a:t>
            </a:r>
            <a:endParaRPr lang="en-US" sz="900" dirty="0"/>
          </a:p>
        </p:txBody>
      </p:sp>
      <p:pic>
        <p:nvPicPr>
          <p:cNvPr id="5" name="Image 0" descr="/home/claude/figs/fig3_jv_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577840" cy="33407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0749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 J-V of shipped presets; stars mark maximum power points.</a:t>
            </a:r>
            <a:endParaRPr lang="en-US" sz="1000" dirty="0"/>
          </a:p>
        </p:txBody>
      </p:sp>
      <p:pic>
        <p:nvPicPr>
          <p:cNvPr id="7" name="Image 1" descr="/home/claude/figs/fig4_eq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5577840" cy="30862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55080" y="48463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 EQE with band-edge cutoffs at hc/E_g (dotted) — the optics verify at a glance.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curves regenerate live from the engines — none is a drawing.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I — All 14 Certified Experimental Benchmarks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13</a:t>
            </a:r>
            <a:endParaRPr lang="en-US" sz="900" dirty="0"/>
          </a:p>
        </p:txBody>
      </p:sp>
      <p:pic>
        <p:nvPicPr>
          <p:cNvPr id="5" name="Image 0" descr="/home/claude/figs/fig5_benchma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7589520" cy="40977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806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8. Tool prediction (colored by technology) vs certified published PCE (gray) for every benchmark device.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32520" y="169164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16395C"/>
          </a:solidFill>
          <a:ln/>
        </p:spPr>
      </p:sp>
      <p:sp>
        <p:nvSpPr>
          <p:cNvPr id="8" name="Text 5"/>
          <p:cNvSpPr/>
          <p:nvPr/>
        </p:nvSpPr>
        <p:spPr>
          <a:xfrm>
            <a:off x="8732520" y="18013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823960" y="24414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|PCE error| across all 14 devices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732520" y="306324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16395C"/>
          </a:solidFill>
          <a:ln/>
        </p:spPr>
      </p:sp>
      <p:sp>
        <p:nvSpPr>
          <p:cNvPr id="11" name="Text 8"/>
          <p:cNvSpPr/>
          <p:nvPr/>
        </p:nvSpPr>
        <p:spPr>
          <a:xfrm>
            <a:off x="8732520" y="31729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1.91%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823960" y="38130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error (industrial PERC)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732520" y="443484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16395C"/>
          </a:solidFill>
          <a:ln/>
        </p:spPr>
      </p:sp>
      <p:sp>
        <p:nvSpPr>
          <p:cNvPr id="14" name="Text 11"/>
          <p:cNvSpPr/>
          <p:nvPr/>
        </p:nvSpPr>
        <p:spPr>
          <a:xfrm>
            <a:off x="8732520" y="45445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14/14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823960" y="51846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within pre-registered tolerances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II — Organic Records and the Tandem Lineage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6692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68680"/>
                <a:gridCol w="777240"/>
                <a:gridCol w="731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Benchmark (certified device)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Published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Err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PM6:Y6 — Yuan 2019, Joule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PM6:Y6 @300 nm (out-of-cal.)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PM6:L8-BO — Li 2021, Nat. Energy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PBQx-TF:eC9-2Cl — Cui 2021, Adv. Mater.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PM6:L8-BO-C4 — Li 2025, Nat. Mater.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P3HT:PC61BM (legacy band)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846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2. Organic engine vs certified devices (PCE %).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52578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Disclosed trade-off (2020 tandem): PCE and Voc match closely; Jsc runs ~7% low against FF ~6% high — compensating errors of analytical optics, documented in VALIDATION_MULTI_TECH.md.</a:t>
            </a:r>
            <a:endParaRPr lang="en-US" sz="1150" dirty="0"/>
          </a:p>
        </p:txBody>
      </p:sp>
      <p:pic>
        <p:nvPicPr>
          <p:cNvPr id="8" name="Image 0" descr="/home/claude/figs/fig10_line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91640"/>
            <a:ext cx="4846320" cy="27895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9. The certified perovskite/Si record lineage 2020→2025, reproduced at documented interface-quality grades (all ≤1.3% error).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CROSS-TOOL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III — Lumerical-Class Wave Optics (TMM)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15</a:t>
            </a:r>
            <a:endParaRPr lang="en-US" sz="900" dirty="0"/>
          </a:p>
        </p:txBody>
      </p:sp>
      <p:pic>
        <p:nvPicPr>
          <p:cNvPr id="5" name="Image 0" descr="/home/claude/figs/fig7_tmm_o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486400" cy="3063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92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10. Interference oscillation of Jsc(L): maxima inside every published window (Sievers 2006; Kotlarski 2008; Monestier 2007).</a:t>
            </a:r>
            <a:endParaRPr lang="en-US" sz="1000" dirty="0"/>
          </a:p>
        </p:txBody>
      </p:sp>
      <p:pic>
        <p:nvPicPr>
          <p:cNvPr id="7" name="Image 1" descr="/home/claude/figs/fig8_tmm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486400" cy="27592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0" y="4617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11. Per-layer absorptance of the PM6:Y6 stack — parasitic ITO/PEDOT/metal losses resolved.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planar stacks, TMM is the exact solution of the same Maxwell problem Lumerical STACK solves. Energy conservation &lt; 10⁻⁴; Fresnel limit to machine precision; certified PM6:Y6 Jsc within 5.1% (published TMM band ~16%, Rosa 2021).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CROSS-TOOL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IV — Cross-Tool Suite: 9/9 Checks Pass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989320"/>
                <a:gridCol w="41148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conservation R+T+ΣA = 1 across the spectrum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err 9.7×10⁻⁵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 Fresnel limit (bare glass/air)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P3HT:PCBM interference vs published TMM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&amp; 215 nm maxima, 130 nm min — in all windows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NFA optical optimum ≈ 100 nm (Im 2023)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nm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PM6:Y6 absolute TMM Jsc vs certified device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 vs 25.3 mA/cm² (5.1%)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optics paths (TMM vs calibrated)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 PCE deviation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SCAPS-1D .def export → re-import round trip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parameter-exact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Published-SCAPS numerical suite (10 devices)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0.7%, worst 2.0%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Richter-2012 vs Niewelt-2022 silicon 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 PCE deviation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Reproduce live during Q&amp;A:  python scripts/run_cross_tool_validation.py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AI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 — Conditional PINN with an Explicit Verification Protocol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 across a device family — û(x; d, N_t) for d = 300-700 nm, N_t = 10¹³-10¹⁶ cm⁻³ — millisecond field solutions for optimization and inverse design.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data (vs FDM solutions) + λ·Poisson/continuity residuals via automatic differentiation.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(a): held-out devices vs the validated FDM solver — 6.5-7.6% rel-L2 (Figure 12).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(b): closed-form anchors — depletion width W = √(2εV_bi/qN) = 1662 nm ≫ 500 nm ⇒ uniform field V_bi/d = 20 kV/cm; dark-equilibrium np = n_i² as a pointwise error meter.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(c): every PINN/inverse-design candidate is re-simulated through the FDM solver before being reported.</a:t>
            </a:r>
            <a:endParaRPr lang="en-US" sz="1250" dirty="0"/>
          </a:p>
        </p:txBody>
      </p:sp>
      <p:pic>
        <p:nvPicPr>
          <p:cNvPr id="6" name="Image 0" descr="/home/claude/figs/fig12_pi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737360"/>
            <a:ext cx="4846320" cy="26471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0" y="4709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12. Held-out field errors of the conditional PINN against the finite-difference ground truth (artifacts/conditional_pinn_metrics.json).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AI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II — Evolutionary Optimization with Sensitivity Explanation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18</a:t>
            </a:r>
            <a:endParaRPr lang="en-US" sz="900" dirty="0"/>
          </a:p>
        </p:txBody>
      </p:sp>
      <p:pic>
        <p:nvPicPr>
          <p:cNvPr id="5" name="Image 0" descr="/home/claude/figs/fig13_o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7498080" cy="2981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754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13. Live differential-evolution run on the PERC preset: 23.60% → 25.70% in 604 device evaluations; the random-forest ranking attributes the gain chiefly to surface passivation (J₀ₛ) and bulk lifetime.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366760" y="173736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mutation x' = xₐ + F(x_b − x_c): gradient-free, suits the multi-modal PV landscape.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GA, NSGA-II, Bayesian on equal budgets (Page 6).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rails: 29.4% silicon limit enforced; boundary optima reported as constraints.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sensitivity ranking with the optimum — the 'why', not just the number.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· MATHEMATICAL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Hand-Solved Examples, Asserted Against the Live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120640"/>
                <a:gridCol w="3840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Quantity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Closed-form derivation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Hand vs engine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Silicon Voc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2733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V_T·ln[(n₀+Δn)(p₀+Δn)/n_i²] = 0.025852 × 28.82</a:t>
                      </a:r>
                      <a:endParaRPr lang="en-US" sz="11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 0.7451 V = engine 0.7451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Silicon 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2733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Green: FF₀(v_oc=28.82) = 0.8529; ×(1−1.1r_s)</a:t>
                      </a:r>
                      <a:endParaRPr lang="en-US" sz="11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 0.8356 vs sweep 0.8357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Recomb.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2733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R_intr + R_SRH + R_surf at Δn = 1.605×10¹⁶</a:t>
                      </a:r>
                      <a:endParaRPr lang="en-US" sz="11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G to 4 significant figures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Voc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2733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(E_g − E_loss)/q = 1.33 − 0.50</a:t>
                      </a:r>
                      <a:endParaRPr lang="en-US" sz="11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 V vs engine 0.829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J₀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2733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J_sc/(e^(Voc/mV_T) − 1)</a:t>
                      </a:r>
                      <a:endParaRPr lang="en-US" sz="11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1.74×10⁻⁸ vs 1.70×10⁻⁸ mA/cm²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 ceiling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2733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J₀,rad(1.55 eV) = 8.99×10⁻²¹ → V_oc,rad = 1.279 V</a:t>
                      </a:r>
                      <a:endParaRPr lang="en-US" sz="11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1.038 V sits 241 mV below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Tandem additivity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2733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1.201 + 0.727 V</a:t>
                      </a:r>
                      <a:endParaRPr lang="en-US" sz="11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1.929 vs 1.922 V (0.3%)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2733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((0.52)/(2.52))² = 4.2580%</a:t>
                      </a:r>
                      <a:endParaRPr lang="en-US" sz="11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TMM matches to 16 digits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Quarter-wave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2733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λ/4n = 550/(4×2.08) = 66 nm</a:t>
                      </a:r>
                      <a:endParaRPr lang="en-US" sz="11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broadband max at 80 nm (publ. 70-90)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Executable:  python scripts/run_tutorial_examples.py  →  22/22 PASS  (full derivations: docs/TUTORIAL.md + illustrated manual)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·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Interoperability, Provenance and Reproducibility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282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SCAPS-1D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30552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+ export of .def problem files; ≥90% of the shared 1-D parameter set transfers; skipped extras listed, never dropped. Round trip parameter-exact (tested).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7282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Lumerical-class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130552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TMM layer lists map 1:1 to STACK; n,k tables carry source DOIs; J-V/EQE CSV for comparison. Textured 3-D FDTD stated as out of 1-D scope — never imitated.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7282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OghmaNano &amp; pipelines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0" y="2130552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 device-spec JSON for the organic exciton/CT cross-checks and scripted workflows.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7FAF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684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370832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37-entry reference registry, 21 verified against the Consensus academic index; registry-integrity test blocks uncited benchmarks.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389120" y="384048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7FAF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9684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370832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suites → versioned artifacts; 58 regression tests; pinned dependencies; CITATION.cff; illustrated manual + executable tutorial in-repo.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138160" y="384048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7FAFD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39684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path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21040" y="4370832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certified device = one JSON entry (targets + DOI); UI, suite and tests pick it up automatically.</a:t>
            </a:r>
            <a:endParaRPr lang="en-US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· 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Contributions of This Research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7FAFD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67335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167335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open multi-technology platform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09160" y="162763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Perovskite, tandem, organic and silicon (plus CdTe) unified on shared, provenance-tracked numerical foundations with a web UI and scriptable API.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EAF1F8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63347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Certified-device validation methodology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09160" y="258775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pre-registered 14-device benchmark suite (mean 0.73% PCE error) placing fabricated records above tool-to-tool comparison — with the cross-tool suite (9/9) as the second pillar.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7FAF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5935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359359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2T tandem coupling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09160" y="354787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V(J) addition with spectral filtering and textured optics, reproducing the 29.15% → 34.58% record lineage at documented interface grades.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EAF1F8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55371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554480" y="455371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AI for PV design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09160" y="450799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PINN + inverse design + evolutionary optimization under an explicit three-part verification protocol (FDM reference, analytic anchors, forward re-simulation).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40080" y="539496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7FAFD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51383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554480" y="551383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Executable scholarship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709160" y="546811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hand-solved mathematical examples, an illustrated manual, and validation artifacts that regenerate every claim from source — reproducibility as a feature, not an appendix.</a:t>
            </a:r>
            <a:endParaRPr lang="en-US" sz="11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· HONESTY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Disclosed Limitations and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(by design, each with a workaround)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physics — no busbar geometry or 3-D textures (export → Quokka / FDTD).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transport semi-empirical; exciton/CT drift-diffusion → OghmaNano via JSON export.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TMM assumes planar coherent stacks; organic n,k carries ±5-10% batch spread (Kerremans 2020).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Tandem grade presets calibrated within documented ranges — the same construction SCAPS baselines use.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Energy-yield under real spectra for the new technologies; degradation/stability kinetics.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Luminescent coupling in 2T tandems; measured-ellipsometry n,k upload into the TMM database.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benchmark-submission workflow (community-certified devices via pull request).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to kesterite/CIGS on the same drift-diffusion core; GPU-batched PINN families.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affects a validated claim — every claim states which rung of the verification ladder supports it (MAJOR_CONCERNS_v4.md).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I — Physics Models and Certified Benchmarks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5440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Shockley &amp; Queisser, J. Appl. Phys. 32, 510 (1961). DOI 10.1063/1.1736034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Solid-State Electron. 24, 788 (1981). DOI 10.1016/0038-1101(81)90062-9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Tiedje, Yablonovitch, Cody &amp; Brooks, IEEE Trans. Electron Devices 31, 711 (1984). DOI 10.1109/T-ED.1984.21594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Burgelman, Nollet &amp; Degrave (SCAPS-1D), Thin Solid Films 361-362, 527 (2000). DOI 10.1016/S0040-6090(99)00825-1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Kerr &amp; Cuevas, J. Appl. Phys. 91, 2473 (2002). DOI 10.1063/1.1432476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Altermatt et al., J. Appl. Phys. 93, 1598 (2003). DOI 10.1063/1.1529297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Sol. Energy Mater. Sol. Cells 92, 1305 (2008). DOI 10.1016/j.solmat.2008.06.009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Richter, Glunz, Werner, Schmidt &amp; Cuevas, Phys. Rev. B 86, 165202 (2012). DOI 10.1103/PhysRevB.86.165202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6263640" y="1508760"/>
            <a:ext cx="5440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Niewelt et al., Sol. Energy Mater. Sol. Cells 235, 111467 (2022). DOI 10.1016/j.solmat.2021.111467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Yoshikawa et al., Nat. Energy 2, 17032 (2017). DOI 10.1038/nenergy.2017.32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Yoshikawa et al., Sol. Energy Mater. Sol. Cells 173, 37 (2017). DOI 10.1016/j.solmat.2017.06.024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Richter et al., Nat. Energy 6, 429 (2021). DOI 10.1038/s41560-021-00805-w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 et al., Nat. Energy 8, 789 (2023). DOI 10.1038/s41560-023-01255-2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et al., Solar cell efficiency tables (v57), Prog. Photovolt. 29, 3 (2021). DOI 10.1002/pip.3371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Gloeckler, Fahrenbruch &amp; Sites, Proc. WCPEC-3 (2003) — CdTe baseline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Masuko et al., IEEE J. Photovolt. 4, 1433 (2014). DOI 10.1109/JPHOTOV.2014.2352151</a:t>
            </a:r>
            <a:endParaRPr lang="en-US" sz="10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II — Organic, Optics, Tandem and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Open-Source Tool for Solar Cell Design &amp; Optimization — PhD Research Presentation   ·  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5440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Pettersson, Roman &amp; Inganäs, J. Appl. Phys. 86, 487 (1999). DOI 10.1063/1.370757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Koster, Smits, Mihailetchi &amp; Blom, Phys. Rev. B 72, 085205 (2005). DOI 10.1103/PhysRevB.72.085205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Scharber et al., Adv. Mater. 18, 789 (2006). DOI 10.1002/adma.200501717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Sievers, Shrotriya &amp; Yang, J. Appl. Phys. 100, 114509 (2006). DOI 10.1063/1.2388854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Monestier et al., Sol. Energy Mater. Sol. Cells 91, 405 (2007). DOI 10.1016/j.solmat.2006.10.019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Kotlarski et al., J. Appl. Phys. 103, 084502 (2008). DOI 10.1063/1.2905243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Burkhard, Hoke &amp; McGehee, Adv. Mater. 22, 3293 (2010). DOI 10.1002/adma.201000883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et al., Joule 3, 1140 (2019). DOI 10.1016/j.joule.2019.01.004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Kerremans et al., Adv. Opt. Mater. 8, 2000319 (2020). DOI 10.1002/adom.202000319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al., Nat. Energy 6, 605 (2021). DOI 10.1038/s41560-021-00820-x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6263640" y="1508760"/>
            <a:ext cx="5440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et al., Adv. Mater. 33, 2102420 (2021). DOI 10.1002/adma.202102420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et al., Sol. Energy 221 (2021). DOI 10.1016/j.solener.2021.04.041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et al., Molecules 28, 2985 (2023). DOI 10.3390/molecules28072985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al., Nat. Mater. 24 (2025). DOI 10.1038/s41563-024-02087-5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Al-Ashouri et al., Science 370, 1300 (2020). DOI 10.1126/science.abd4016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 et al., Science 381, 59 (2023). DOI 10.1126/science.adg0091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Mariotti et al., Science 381, 63 (2023). DOI 10.1126/science.adf5872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 et al., Nature 644, 912 (2025). DOI 10.1038/s41586-025-09333-z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 &amp; Christy, Phys. Rev. B 6, 4370 (1972). DOI 10.1103/PhysRevB.6.4370</a:t>
            </a:r>
            <a:endParaRPr lang="en-US" sz="103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Rakic, Appl. Opt. 34, 4755 (1995). DOI 10.1364/AO.34.004755</a:t>
            </a:r>
            <a:endParaRPr lang="en-US" sz="10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verified, open, multi-technology design platform — where every number can defend itself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technology families (plus CdTe) unified on shared physics, with true 2T/4T tandem coupling and Lumerical-class wave optics.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where it counts: 14/14 certified fabricated record devices (mean 0.73% PCE error), then 9/9 cross-tool checks against SCAPS-1D and published TMM benchmarks.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earns trust: conditional PINN at 6.5-7.6% held-out field error, optimizers with sensitivity explanations, inverse design gated by forward re-simulation.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you can execute: 22 hand-solved examples, three regenerating validation suites, 37 DOI-backed references, illustrated manual — all in the repository.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53492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1639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4589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14/14 · 9/9 · 22/22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60990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suites, live on request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0" y="53949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800" dirty="0"/>
          </a:p>
          <a:p>
            <a:pPr algn="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available:  streamlit run app.py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2026-07-12T16:02:43Z</dcterms:created>
  <dcterms:modified xsi:type="dcterms:W3CDTF">2026-07-12T16:02:43Z</dcterms:modified>
</cp:coreProperties>
</file>